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4F46E5"/>
                </a:solidFill>
              </a:defRPr>
            </a:pPr>
            <a:r>
              <a:t>BAHASACERDAS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The Social-Creative Platform for Bahasa Indonesia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A0"/>
                </a:solidFill>
              </a:defRPr>
            </a:pPr>
            <a:r>
              <a:t>Seed Round  |  EdTech  |  Indonesia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EFF9A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FFFFF"/>
                </a:solidFill>
              </a:defRPr>
            </a:pPr>
            <a:r>
              <a:t>Bahasa Indonesia is the least favorite subject in Indonesian schools.</a:t>
            </a:r>
          </a:p>
          <a:p>
            <a:pPr>
              <a:spcAft>
                <a:spcPts val="800"/>
              </a:spcAft>
              <a:defRPr sz="2200" b="0">
                <a:solidFill>
                  <a:srgbClr val="FFFFFF"/>
                </a:solidFill>
              </a:defRPr>
            </a:pPr>
            <a:r>
              <a:t>63M+ students are forced to memorize — not create.</a:t>
            </a:r>
          </a:p>
          <a:p>
            <a:pPr>
              <a:spcAft>
                <a:spcPts val="800"/>
              </a:spcAft>
              <a:defRPr sz="2200" b="0">
                <a:solidFill>
                  <a:srgbClr val="FFFFFF"/>
                </a:solidFill>
              </a:defRPr>
            </a:pPr>
            <a:r>
              <a:t>4M+ teachers have no modern digital tools.</a:t>
            </a:r>
          </a:p>
          <a:p>
            <a:pPr>
              <a:spcAft>
                <a:spcPts val="800"/>
              </a:spcAft>
              <a:defRPr sz="2200" b="0">
                <a:solidFill>
                  <a:srgbClr val="FFFFFF"/>
                </a:solidFill>
              </a:defRPr>
            </a:pPr>
            <a:r>
              <a:t>Result: declining literacy and disengaged classrooms.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EFF9A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Students: Write daily (puisi, cerpen, artikel, anekdot, pantun, opini)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           Social portfolio with likes, comments &amp; followers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           Earn Coin Cerdas, compete in weekly leagues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Teachers: AI question generator, auto-gradebook, lesson plans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           Marketplace to sell teaching materials (80/20 split)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           Real-time class progress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EFF9A"/>
                </a:solidFill>
              </a:defRPr>
            </a:pPr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Merdeka Curriculum mandates project-based creative writing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300M+ smartphone users — Gen Z spends 6+ hrs/day on phone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Indonesian EdTech market projected to reach $8B by 2027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No dominant player focused on Bahasa Indonesia (white space)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EFF9A"/>
                </a:solidFill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TAM  $12.8B  —  All 63M K-12 students × education spend</a:t>
            </a:r>
          </a:p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SAM  $2.1B   —  Digital-savvy urban students &amp; teachers</a:t>
            </a:r>
          </a:p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SOM  $180M   —  3-5 year capture with current model</a:t>
            </a:r>
          </a:p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White space: No dedicated platform for Bahasa Indonesia creative writing.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EFF9A"/>
                </a:solidFill>
              </a:defRPr>
            </a:pPr>
            <a:r>
              <a:t>Student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Creative Writing Hub: 6 genres with Behance-style portfolios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Coin Economy: earn coins writing, commenting, liking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Daily Quests &amp; Streak system to build writing habits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Game Battles: quiz tempur, tebak kata, matchmaking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Weekly Leagues: 30 peers, promote/demote each week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EFF9A"/>
                </a:solidFill>
              </a:defRPr>
            </a:pPr>
            <a:r>
              <a:t>Teacher Operating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AI Bank Soal: generate questions by KD, difficulty, topic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Auto Gradebook: A-E scoring with CSV export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Buku Panduan: grade-level content VII-XII, all semesters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Marketplace: sell RPP, Modul, PPT, Soal, Video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Penugasan: assign work to classes, track submissions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EFF9A"/>
                </a:solidFill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500+ active students across 15+ schools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50+ teachers creating content and assigning tasks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4,000+ karya (poems, stories, articles) created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15,000+ quiz sessions completed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85% weekly retention rate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  12 grade levels  |  21,600+ content items  |  4 game modes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EFF9A"/>
                </a:solidFill>
              </a:defRPr>
            </a:pPr>
            <a:r>
              <a:t>Business Model — 7 Revenue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DEFF9A"/>
                </a:solidFill>
              </a:defRPr>
            </a:pPr>
            <a:r>
              <a:t>Premium Guru      Rp 49K/mo  × 30K teachers  →  Rp 1.47B/mo</a:t>
            </a:r>
          </a:p>
          <a:p>
            <a:pPr>
              <a:spcAft>
                <a:spcPts val="800"/>
              </a:spcAft>
              <a:defRPr sz="1800" b="0">
                <a:solidFill>
                  <a:srgbClr val="DEFF9A"/>
                </a:solidFill>
              </a:defRPr>
            </a:pPr>
            <a:r>
              <a:t>Premium Murid     Rp 15K/mo  × 35K students  →  Rp 525M/mo</a:t>
            </a:r>
          </a:p>
          <a:p>
            <a:pPr>
              <a:spcAft>
                <a:spcPts val="800"/>
              </a:spcAft>
              <a:defRPr sz="1800" b="0">
                <a:solidFill>
                  <a:srgbClr val="DEFF9A"/>
                </a:solidFill>
              </a:defRPr>
            </a:pPr>
            <a:r>
              <a:t>Marketplace       15% commission              →  Rp 470M/mo</a:t>
            </a:r>
          </a:p>
          <a:p>
            <a:pPr>
              <a:spcAft>
                <a:spcPts val="800"/>
              </a:spcAft>
              <a:defRPr sz="1800" b="0">
                <a:solidFill>
                  <a:srgbClr val="DEFF9A"/>
                </a:solidFill>
              </a:defRPr>
            </a:pPr>
            <a:r>
              <a:t>Seminar/Training  Rp 100K/seat                →  Rp 320M/mo</a:t>
            </a:r>
          </a:p>
          <a:p>
            <a:pPr>
              <a:spcAft>
                <a:spcPts val="800"/>
              </a:spcAft>
              <a:defRPr sz="1800" b="0">
                <a:solidFill>
                  <a:srgbClr val="DEFF9A"/>
                </a:solidFill>
              </a:defRPr>
            </a:pPr>
            <a:r>
              <a:t>Advertisement     CPM + sponsored              →  Rp 250M/mo</a:t>
            </a:r>
          </a:p>
          <a:p>
            <a:pPr>
              <a:spcAft>
                <a:spcPts val="800"/>
              </a:spcAft>
              <a:defRPr sz="1800" b="0">
                <a:solidFill>
                  <a:srgbClr val="DEFF9A"/>
                </a:solidFill>
              </a:defRPr>
            </a:pPr>
            <a:r>
              <a:t>B2B Licensing     Rp 5-10M/school             →  Rp 200M/mo</a:t>
            </a:r>
          </a:p>
          <a:p>
            <a:pPr>
              <a:spcAft>
                <a:spcPts val="800"/>
              </a:spcAft>
              <a:defRPr sz="1800" b="0">
                <a:solidFill>
                  <a:srgbClr val="DEFF9A"/>
                </a:solidFill>
              </a:defRPr>
            </a:pPr>
            <a:r>
              <a:t>API &amp; Merch       Usage-based + merch          →  Rp 100M/mo</a:t>
            </a:r>
          </a:p>
          <a:p>
            <a:pPr>
              <a:spcAft>
                <a:spcPts val="800"/>
              </a:spcAft>
              <a:defRPr sz="1800" b="0">
                <a:solidFill>
                  <a:srgbClr val="DEFF9A"/>
                </a:solidFill>
              </a:defRPr>
            </a:pPr>
            <a:r>
              <a:t>━━━━━━━━━━━━━━━━━━━━━━━━━━━━━━━━━━━━━━━━━</a:t>
            </a:r>
          </a:p>
          <a:p>
            <a:pPr>
              <a:spcAft>
                <a:spcPts val="800"/>
              </a:spcAft>
              <a:defRPr sz="1800" b="0">
                <a:solidFill>
                  <a:srgbClr val="DEFF9A"/>
                </a:solidFill>
              </a:defRPr>
            </a:pPr>
            <a:r>
              <a:t>M18 Total Run-Rate: Rp 3.14 Miliar / bulan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EFF9A"/>
                </a:solidFill>
              </a:defRPr>
            </a:pPr>
            <a:r>
              <a:t>Financial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</a:defRPr>
            </a:pPr>
            <a:r>
              <a:t>Gross Margin:  90.1%  (highly scalable SaaS model)</a:t>
            </a:r>
          </a:p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</a:defRPr>
            </a:pPr>
            <a:r>
              <a:t>ARPU Guru:     Rp 49K/mo</a:t>
            </a:r>
          </a:p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</a:defRPr>
            </a:pPr>
            <a:r>
              <a:t>ARPU Murid:    Rp 15K/mo</a:t>
            </a:r>
          </a:p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</a:defRPr>
            </a:pPr>
            <a:r>
              <a:t>ARR Growth (Base Case):</a:t>
            </a:r>
          </a:p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</a:defRPr>
            </a:pPr>
            <a:r>
              <a:t>  Year 1:  Rp 5.76 Miliar</a:t>
            </a:r>
          </a:p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</a:defRPr>
            </a:pPr>
            <a:r>
              <a:t>  Year 2:  Rp 24 Miliar</a:t>
            </a:r>
          </a:p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</a:defRPr>
            </a:pPr>
            <a:r>
              <a:t>  Year 3:  Rp 80 Miliar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EFF9A"/>
                </a:solidFill>
              </a:defRPr>
            </a:pPr>
            <a:r>
              <a:t>Competitive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BahasaCerdas is the ONLY platform that combines: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  • Creative writing portfolio (social) +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  • Game-based learning (engagement) +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  • Teacher marketplace (monetization) +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  • AI-powered feedback (scale)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Competitors (Ruangguru, Zenius, Duolingo) each serve only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one piece — none owns the Bahasa Indonesia creative space.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EFF9A"/>
                </a:solidFill>
              </a:defRPr>
            </a:pPr>
            <a:r>
              <a:t>Team &amp;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Team: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Dominikus  —  Founder &amp; CEO  |  12+ yrs EdTech &amp; technology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[Hiring]   —  CTO            |  Full-stack, AI/ML, infra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[Hiring]   —  Head of Product |  Gamification &amp; UX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[Hiring]   —  Head of Content |  Bahasa Indonesia curriculum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The Ask: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Seed Round:  Rp 4 Miliar (~$260K)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Pre-money:   Rp 18 Miliar (~$1.17M)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Equity:      18.2%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Runway:      18 months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Use:         Product 40% | Growth 30% | Team 20% | Ops 10%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F46E5"/>
                </a:solidFill>
              </a:defRPr>
            </a:pPr>
            <a:r>
              <a:t>Let's Build the Future of Bahasa Indonesia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000">
                <a:solidFill>
                  <a:srgbClr val="FFFFFF"/>
                </a:solidFill>
              </a:defRPr>
            </a:pPr>
            <a:r>
              <a:t>dominikus@bahasacerdas.com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bahasacerdas.com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Jakarta, Indonesia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