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Calibri"/>
              </a:defRPr>
            </a:pPr>
            <a:r>
              <a:t>BAHASACERDAS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DD4BF"/>
                </a:solidFill>
                <a:latin typeface="Calibri"/>
              </a:defRPr>
            </a:pPr>
            <a:r>
              <a:t>The Social-Creative Platform for</a:t>
            </a:r>
            <a:br/>
            <a:r>
              <a:t>Bahasa Indonesia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Seed Round  •  EdTech  •  Indonesia</a:t>
            </a:r>
            <a:br/>
            <a:r>
              <a:t>Transforming how 63M+ students learn, write, and love their national language</a:t>
            </a:r>
            <a:br/>
            <a:r>
              <a:t>through gamification, AI-powered feedback, and social creativity.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dominikus@bahasacerdas.com  |  bahasacerdas.com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Bahasa Indonesia education is broken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103120"/>
            <a:ext cx="3017520" cy="256032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103120"/>
            <a:ext cx="301752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3353106320" y="2377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2DD4BF"/>
                </a:solidFill>
                <a:latin typeface="Calibri"/>
              </a:defRPr>
            </a:pPr>
            <a:r>
              <a:t>63M+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353106320" y="3017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students forced to</a:t>
            </a:r>
            <a:br/>
            <a:r>
              <a:t>memorize, not 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3353106320" y="3566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Rote learning kills</a:t>
            </a:r>
            <a:br/>
            <a:r>
              <a:t>creative expression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103120"/>
            <a:ext cx="3017520" cy="256032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103120"/>
            <a:ext cx="30175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637074320" y="2377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8B5CF6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0637074320" y="3017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teachers lack modern</a:t>
            </a:r>
            <a:br/>
            <a:r>
              <a:t>digital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0637074320" y="3566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No engaging resources</a:t>
            </a:r>
            <a:br/>
            <a:r>
              <a:t>for Bahasa classes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2103120"/>
            <a:ext cx="3017520" cy="256032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2103120"/>
            <a:ext cx="3017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7920127920" y="2377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59E0B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7920127920" y="3017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least favorite subject</a:t>
            </a:r>
            <a:br/>
            <a:r>
              <a:t>in Indonesian schools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7920127920" y="3566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Students find it boring</a:t>
            </a:r>
            <a:br/>
            <a:r>
              <a:t>and irrelevant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5029200"/>
            <a:ext cx="10241280" cy="146304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1206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⚠  CONSEQUENCES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  Indonesia's PISA reading scores rank among the lowest globally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  Students graduate unable to write a coherent essay or poem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6126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  No platform makes Bahasa Indonesia social, fun, or creative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Where creativity meets gamification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5029200" cy="438912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50292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🎓  FOR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✓  Write daily across 6 genres with AI grammar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29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✓  Social portfolio: Behance-style for writing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31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✓  Earn Coin Cerdas through writing &amp;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434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✓  Weekly leagues: compete &amp; get promoted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937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✓  Game battles: real-time quiz challenges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03120"/>
            <a:ext cx="5029200" cy="438912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50292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D4BF"/>
                </a:solidFill>
                <a:latin typeface="Calibri"/>
              </a:defRPr>
            </a:pPr>
            <a:r>
              <a:t>👩‍🏫  FOR TEACHERS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26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✓  Grade-level content: VII–XII, all semesters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29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✓  AI question generator by KD &amp; difficulty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931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✓  Auto-gradebook with A-E scoring &amp; CSV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34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✓  Marketplace: sell RPP, Modul, PPT, 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37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✓  Class management &amp; progress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Perfect timing: four converging tailwinds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103120"/>
            <a:ext cx="2377440" cy="41148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35310632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35310632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300M+ Smartphone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353106320" y="356616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Highest mobile penetration globally.</a:t>
            </a:r>
            <a:br/>
            <a:r>
              <a:t>Gen Z spends 6+ hrs/day on phones.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103120"/>
            <a:ext cx="2377440" cy="41148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73518632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73518632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Merdeka Curriculum Mandate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735186320" y="356616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Government requires project-based</a:t>
            </a:r>
            <a:br/>
            <a:r>
              <a:t>learning &amp; creative writing.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103120"/>
            <a:ext cx="2377440" cy="41148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2011726632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011726632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EdTech Market Boom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0117266320" y="356616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Indonesian EdTech projected to</a:t>
            </a:r>
            <a:br/>
            <a:r>
              <a:t>reach $8B by 2027.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2103120"/>
            <a:ext cx="2377440" cy="41148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849934632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849934632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 Dominant Player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8499346320" y="356616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Competitors focus on STEM/English.</a:t>
            </a:r>
            <a:br/>
            <a:r>
              <a:t>Bahasa is white space.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Large and growing addressable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3017520" cy="32004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127634320" y="2286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127634320" y="25603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D4BF"/>
                </a:solidFill>
                <a:latin typeface="Calibri"/>
              </a:defRPr>
            </a:pPr>
            <a:r>
              <a:t>$12.8B</a:t>
            </a:r>
          </a:p>
        </p:txBody>
      </p:sp>
      <p:sp>
        <p:nvSpPr>
          <p:cNvPr id="9" name="Rectangle 8"/>
          <p:cNvSpPr/>
          <p:nvPr/>
        </p:nvSpPr>
        <p:spPr>
          <a:xfrm>
            <a:off x="836127634320" y="3200400"/>
            <a:ext cx="228600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127634320" y="3383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Total Addressable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127634320" y="3840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All 63M K-12 students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103120"/>
            <a:ext cx="3017520" cy="32004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637074320" y="2286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0637074320" y="25603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8B5CF6"/>
                </a:solidFill>
                <a:latin typeface="Calibri"/>
              </a:defRPr>
            </a:pPr>
            <a:r>
              <a:t>$2.1B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0637074320" y="3200400"/>
            <a:ext cx="22860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0637074320" y="3383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Serviceable Addressable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0637074320" y="3840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Urban digital-savvy 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103120"/>
            <a:ext cx="3017520" cy="32004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146514320" y="2286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146514320" y="25603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59E0B"/>
                </a:solidFill>
                <a:latin typeface="Calibri"/>
              </a:defRPr>
            </a:pPr>
            <a:r>
              <a:t>$180M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25146514320" y="320040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146514320" y="3383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Serviceable Obtainable 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146514320" y="3840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3-5 year realistic capture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669280"/>
            <a:ext cx="10241280" cy="82296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5760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D4BF"/>
                </a:solidFill>
                <a:latin typeface="Calibri"/>
              </a:defRPr>
            </a:pPr>
            <a:r>
              <a:t>💡  Bahasa Indonesia is mandatory K-12 with 100% school penetration — yet no dedicated platform exists for creative writing.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One platform, two-sided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2468880" cy="27432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246888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127634320" y="2377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✍️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127634320" y="2926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Creative Writing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127634320" y="33832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6 genres, AI feedback,</a:t>
            </a:r>
            <a:br/>
            <a:r>
              <a:t>portfolio &amp; social feed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103120"/>
            <a:ext cx="2468880" cy="27432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2103120"/>
            <a:ext cx="24688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8121535920" y="2377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121535920" y="2926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Game-Based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8121535920" y="33832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Quiz battles, matchmaking,</a:t>
            </a:r>
            <a:br/>
            <a:r>
              <a:t>weekly leagues &amp; XP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103120"/>
            <a:ext cx="2468880" cy="27432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2103120"/>
            <a:ext cx="246888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20117266320" y="2377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0117266320" y="2926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Curriculum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0117266320" y="33832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VII–XII, all semesters,</a:t>
            </a:r>
            <a:br/>
            <a:r>
              <a:t>exercises &amp; quizzes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2103120"/>
            <a:ext cx="2468880" cy="27432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18320" y="2103120"/>
            <a:ext cx="24688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2112082320" y="2377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2112082320" y="2926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Creator Marketplace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2112082320" y="33832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80/20 commission,</a:t>
            </a:r>
            <a:br/>
            <a:r>
              <a:t>Midtrans payments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303520"/>
            <a:ext cx="1828800" cy="118872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4BF"/>
                </a:solidFill>
                <a:latin typeface="Calibri"/>
              </a:defRPr>
            </a:pPr>
            <a:r>
              <a:t>52+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52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Database Models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5303520"/>
            <a:ext cx="1828800" cy="118872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4BF"/>
                </a:solidFill>
                <a:latin typeface="Calibri"/>
              </a:defRPr>
            </a:pPr>
            <a:r>
              <a:t>21,600+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852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Content Items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5303520"/>
            <a:ext cx="1828800" cy="118872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4B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5852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Game Modes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5303520"/>
            <a:ext cx="1828800" cy="118872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4B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5852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Grade Levels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5303520"/>
            <a:ext cx="1828800" cy="118872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4BF"/>
                </a:solidFill>
                <a:latin typeface="Calibri"/>
              </a:defRPr>
            </a:pPr>
            <a:r>
              <a:t>57K+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5852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Lines of Code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Early validation with strong retention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011680" cy="256032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201168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D4BF"/>
                </a:solidFill>
                <a:latin typeface="Calibri"/>
              </a:defRPr>
            </a:pPr>
            <a:r>
              <a:t>500+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Active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15+ schools, 3 months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103120"/>
            <a:ext cx="2011680" cy="256032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210312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926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Active Teachers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383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Creating &amp; assigning daily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2103120"/>
            <a:ext cx="2011680" cy="256032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2103120"/>
            <a:ext cx="201168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D4BF"/>
                </a:solidFill>
                <a:latin typeface="Calibri"/>
              </a:defRPr>
            </a:pPr>
            <a:r>
              <a:t>4,000+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926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Karya Created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383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Poems, stories, articles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103120"/>
            <a:ext cx="2011680" cy="256032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9520" y="210312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Calibri"/>
              </a:defRPr>
            </a:pPr>
            <a:r>
              <a:t>15,000+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926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Quiz 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383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Game sessions completed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2103120"/>
            <a:ext cx="2011680" cy="256032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210312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926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Weekly Retention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383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Students returning weekly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029200"/>
            <a:ext cx="10241280" cy="146304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51206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📈  GROWTH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  Word-of-mouth: teachers inviting teachers at MGMP meetings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  School partnerships: 3 pilot schools, 12 in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6126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  Content flywheel: student karya shared on social media drives sign-ups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7 diversified revenue streams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2468880" cy="201168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246888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12754288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Calibri"/>
              </a:defRPr>
            </a:pPr>
            <a:r>
              <a:t>Premium Guru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12754288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Rp 49K/mo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127542880" y="3108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× 30K = Rp 1.47B/mo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103120"/>
            <a:ext cx="2468880" cy="201168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2103120"/>
            <a:ext cx="24688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812144448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Premium Murid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12144448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Rp 15K/mo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8121444480" y="3108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× 35K = Rp 525M/mo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103120"/>
            <a:ext cx="2468880" cy="201168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210312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2011717488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011717488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0117174880" y="3108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Teacher creator economy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2103120"/>
            <a:ext cx="2468880" cy="201168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18320" y="2103120"/>
            <a:ext cx="246888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2111990879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Calibri"/>
              </a:defRPr>
            </a:pPr>
            <a:r>
              <a:t>Seminar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2111990879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Rp 100K/seat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2111990879" y="3108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Workshops &amp; cert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0" y="4389120"/>
            <a:ext cx="2926080" cy="146304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45920" y="4389120"/>
            <a:ext cx="29260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0502943088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Advertisement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502943088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Rp 250M/mo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502943088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CPM + sponsored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4389120"/>
            <a:ext cx="2926080" cy="146304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37760" y="4389120"/>
            <a:ext cx="292608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1508792688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Calibri"/>
              </a:defRPr>
            </a:pPr>
            <a:r>
              <a:t>B2B Licensing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508792688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Rp 200M/mo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508792688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School subscriptions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389120"/>
            <a:ext cx="2926080" cy="146304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4389120"/>
            <a:ext cx="29260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2514642288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API &amp; Merch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2514642288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Rp 100M/mo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14642288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White-label + merch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6126480"/>
            <a:ext cx="10241280" cy="457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61264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E17"/>
                </a:solidFill>
                <a:latin typeface="Calibri"/>
              </a:defRPr>
            </a:pPr>
            <a:r>
              <a:t>M18 TOTAL MONTHLY RUN-RATE: Rp 3.14 MILIAR / BULAN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FINANCIAL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Strong unit economics, clear path to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2468880" cy="27432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246888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127542880" y="2286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2DD4BF"/>
                </a:solidFill>
                <a:latin typeface="Calibri"/>
              </a:defRPr>
            </a:pPr>
            <a:r>
              <a:t>90.1%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127542880" y="2926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Gross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127542880" y="3566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Highly scalable SaaS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103120"/>
            <a:ext cx="2468880" cy="27432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2103120"/>
            <a:ext cx="24688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8121444480" y="2286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8B5CF6"/>
                </a:solidFill>
                <a:latin typeface="Calibri"/>
              </a:defRPr>
            </a:pPr>
            <a:r>
              <a:t>Rp 49K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121444480" y="2926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ARPU Guru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8121444480" y="3566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Per month subscription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103120"/>
            <a:ext cx="2468880" cy="27432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2103120"/>
            <a:ext cx="246888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20117174880" y="2286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2DD4BF"/>
                </a:solidFill>
                <a:latin typeface="Calibri"/>
              </a:defRPr>
            </a:pPr>
            <a:r>
              <a:t>Rp 15K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0117174880" y="2926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ARPU Murid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0117174880" y="3566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Per month subscription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2103120"/>
            <a:ext cx="2468880" cy="27432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18320" y="210312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2111990879" y="2286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59E0B"/>
                </a:solidFill>
                <a:latin typeface="Calibri"/>
              </a:defRPr>
            </a:pPr>
            <a:r>
              <a:t>18 Months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2111990879" y="2926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Runway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2111990879" y="3566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Product 40%, Growth 30%</a:t>
            </a:r>
            <a:br/>
            <a:r>
              <a:t>Team 20%, Ops 10%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212080"/>
            <a:ext cx="10241280" cy="13716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ARR GROWTH TRAJECTORY (BASE CASE)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669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D4BF"/>
                </a:solidFill>
                <a:latin typeface="Calibri"/>
              </a:defRPr>
            </a:pPr>
            <a:r>
              <a:t>Rp 5.76B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4192685920" y="5943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B5563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669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D4BF"/>
                </a:solidFill>
                <a:latin typeface="Calibri"/>
              </a:defRPr>
            </a:pPr>
            <a:r>
              <a:t>Rp 24B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0638445920" y="5943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B5563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669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D4BF"/>
                </a:solidFill>
                <a:latin typeface="Calibri"/>
              </a:defRPr>
            </a:pPr>
            <a:r>
              <a:t>Rp 80B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Uniquely positioned at the intersection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017520" cy="3840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D4BF"/>
                </a:solidFill>
                <a:latin typeface="Calibri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3749040" y="2011680"/>
            <a:ext cx="1828800" cy="3840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0574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BAHASACERDAS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2011680"/>
            <a:ext cx="1828800" cy="3840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20574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Ruangguru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011680"/>
            <a:ext cx="1828800" cy="3840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0574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Duolingo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2011680"/>
            <a:ext cx="1828800" cy="3840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0574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Zenius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395728"/>
            <a:ext cx="301752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4414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Bahasa Indonesia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2395728"/>
            <a:ext cx="182880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24414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D4B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395728"/>
            <a:ext cx="182880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24414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395728"/>
            <a:ext cx="182880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4414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2395728"/>
            <a:ext cx="182880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4414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779776"/>
            <a:ext cx="301752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82549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Creative writing (6 genres)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40" y="2779776"/>
            <a:ext cx="182880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0" y="282549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D4B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2779776"/>
            <a:ext cx="182880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282549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2779776"/>
            <a:ext cx="182880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282549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2779776"/>
            <a:ext cx="182880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282549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163824"/>
            <a:ext cx="301752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20954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Social portfolio feed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40" y="3163824"/>
            <a:ext cx="182880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0" y="32095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D4B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7840" y="3163824"/>
            <a:ext cx="182880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32095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3163824"/>
            <a:ext cx="182880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32095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35440" y="3163824"/>
            <a:ext cx="182880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32095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3547872"/>
            <a:ext cx="301752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359359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Game-based learning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49040" y="3547872"/>
            <a:ext cx="182880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40" y="35935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D4B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3547872"/>
            <a:ext cx="182880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0" y="35935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3547872"/>
            <a:ext cx="182880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35935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D4B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3547872"/>
            <a:ext cx="182880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35440" y="35935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3931920"/>
            <a:ext cx="301752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39776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Teacher marketplace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49040" y="3931920"/>
            <a:ext cx="182880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49040" y="39776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D4B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77840" y="3931920"/>
            <a:ext cx="182880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77840" y="39776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06640" y="3931920"/>
            <a:ext cx="182880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6640" y="39776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35440" y="3931920"/>
            <a:ext cx="182880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35440" y="39776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4315968"/>
            <a:ext cx="301752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AI writing feedback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49040" y="4315968"/>
            <a:ext cx="182880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749040" y="43616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D4B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77840" y="4315968"/>
            <a:ext cx="182880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77840" y="43616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4315968"/>
            <a:ext cx="182880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06640" y="43616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35440" y="4315968"/>
            <a:ext cx="182880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35440" y="43616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1520" y="4700016"/>
            <a:ext cx="301752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474573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Coin economy &amp; leagues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749040" y="4700016"/>
            <a:ext cx="182880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749040" y="47457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D4B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77840" y="4700016"/>
            <a:ext cx="182880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77840" y="47457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06640" y="4700016"/>
            <a:ext cx="182880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06640" y="47457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D4B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235440" y="4700016"/>
            <a:ext cx="1828800" cy="384048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35440" y="47457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084064"/>
            <a:ext cx="301752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512978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Curriculum-aligned content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749040" y="5084064"/>
            <a:ext cx="182880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749040" y="512978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D4B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577840" y="5084064"/>
            <a:ext cx="182880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77840" y="512978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D4B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406640" y="5084064"/>
            <a:ext cx="182880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406640" y="512978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235440" y="5084064"/>
            <a:ext cx="1828800" cy="384048"/>
          </a:xfrm>
          <a:prstGeom prst="rect">
            <a:avLst/>
          </a:prstGeom>
          <a:solidFill>
            <a:srgbClr val="1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235440" y="512978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D4B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51560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Education experts building for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468880" cy="32004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246888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890207088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Dominikus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90207088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Calibri"/>
              </a:defRPr>
            </a:pPr>
            <a:r>
              <a:t>Founder &amp;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902070880" y="32004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12+ years in Education Technology</a:t>
            </a:r>
            <a:br/>
            <a:r>
              <a:t>and platform building.</a:t>
            </a:r>
            <a:br/>
            <a:r>
              <a:t>Ex-lecturer, built multiple</a:t>
            </a:r>
            <a:br/>
            <a:r>
              <a:t>digital learning products.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103120"/>
            <a:ext cx="2468880" cy="32004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103120"/>
            <a:ext cx="24688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089688688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[Hiring]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089688688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0896886880" y="32004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Full-stack engineer, Next.js,</a:t>
            </a:r>
            <a:br/>
            <a:r>
              <a:t>AI/ML infrastructure.</a:t>
            </a:r>
            <a:br/>
            <a:r>
              <a:t>Scalable systems for 50K+ users.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103120"/>
            <a:ext cx="2468880" cy="32004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103120"/>
            <a:ext cx="246888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89170288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[Hiring]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89170288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Calibri"/>
              </a:defRPr>
            </a:pPr>
            <a:r>
              <a:t>Head of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891702880" y="32004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Product designer focused on</a:t>
            </a:r>
            <a:br/>
            <a:r>
              <a:t>gamification and student</a:t>
            </a:r>
            <a:br/>
            <a:r>
              <a:t>engagement. EdTech preferred.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2103120"/>
            <a:ext cx="2468880" cy="32004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2103120"/>
            <a:ext cx="24688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4886518879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[Hiring]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4886518879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Head of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4886518879" y="32004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Master's in Bahasa Indonesia</a:t>
            </a:r>
            <a:br/>
            <a:r>
              <a:t>Education. Curriculum design</a:t>
            </a:r>
            <a:br/>
            <a:r>
              <a:t>for Merdeka Belajar.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669280"/>
            <a:ext cx="10241280" cy="82296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7607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🔗  Key hires post-seed: Mobile Developer, Growth Marketer, Content Specialist. Advisory board being formed.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Join us in building the future of</a:t>
            </a:r>
            <a:br/>
            <a:r>
              <a:t>Bahasa Indonesia education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6400800" cy="32004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54864" cy="3200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INVESTMENT 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Investment: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Rp 4 Miliar (~$260K)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Pre-money: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Rp 18 Miliar (~$1.17M)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Equity: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Runway: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Lead Investor: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Open — first close available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2286000"/>
            <a:ext cx="3474720" cy="3200400"/>
          </a:xfrm>
          <a:prstGeom prst="rect">
            <a:avLst/>
          </a:prstGeom>
          <a:solidFill>
            <a:srgbClr val="14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2286000"/>
            <a:ext cx="54864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USE OF FUNDS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Product Development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108960"/>
            <a:ext cx="2377440" cy="914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2834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Growth &amp; Marketing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703320"/>
            <a:ext cx="182880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0" y="3429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Infrastructure &amp; 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4297680"/>
            <a:ext cx="91440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07040" y="4023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Ops &amp; Legal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892040"/>
            <a:ext cx="914400" cy="9144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760720"/>
            <a:ext cx="10241280" cy="7315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806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0E17"/>
                </a:solidFill>
                <a:latin typeface="Calibri"/>
              </a:defRPr>
            </a:pPr>
            <a:r>
              <a:t>📧  dominikus@bahasacerdas.com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806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0E17"/>
                </a:solidFill>
                <a:latin typeface="Calibri"/>
              </a:defRPr>
            </a:pPr>
            <a:r>
              <a:t>🌐  bahasacerdas.com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6080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5A50"/>
                </a:solidFill>
                <a:latin typeface="Calibri"/>
              </a:defRPr>
            </a:pPr>
            <a:r>
              <a:t>📍 Jakarta, Indonesia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309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B5563"/>
                </a:solidFill>
                <a:latin typeface="Calibr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